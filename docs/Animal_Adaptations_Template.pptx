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0" y="43891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🌿  A Student Science Project  🌿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914400"/>
            <a:ext cx="2194560" cy="347472"/>
          </a:xfrm>
          <a:prstGeom prst="roundRect">
            <a:avLst>
              <a:gd fmla="val 15789" name="adj"/>
            </a:avLst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91440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5TH GRADE SCIENCE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1371600"/>
            <a:ext cx="5943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Animal Adaptations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83464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4C69D"/>
              </a:buClr>
              <a:buSzPts val="1600"/>
              <a:buFont typeface="Georgia"/>
              <a:buNone/>
            </a:pPr>
            <a:r>
              <a:rPr b="0" i="1" lang="en-US" sz="1600" u="none" cap="none" strike="noStrike">
                <a:solidFill>
                  <a:srgbClr val="74C69D"/>
                </a:solidFill>
                <a:latin typeface="Georgia"/>
                <a:ea typeface="Georgia"/>
                <a:cs typeface="Georgia"/>
                <a:sym typeface="Georgia"/>
              </a:rPr>
              <a:t>How Animals Survive — and How They Might Evolve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365760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Name: _______________________     Period: _______     Date: __________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E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2743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B4332"/>
                </a:solidFill>
                <a:latin typeface="Georgia"/>
                <a:ea typeface="Georgia"/>
                <a:cs typeface="Georgia"/>
                <a:sym typeface="Georgia"/>
              </a:rPr>
              <a:t>How to Use This Template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Follow the slides in order. Replace the example text with YOUR animal and YOUR ideas!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5760" y="1463040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65760" y="14630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68680" y="14173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Choose Your Animal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68680" y="1673352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Pick any animal you find interesting — from a rainforest frog to an Arctic wolf. You'll study this animal for the whole presentation.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2359152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65760" y="235915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68680" y="23134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Describe the Animal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68680" y="2569464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3, write what your animal looks like, how big it is, and any fun facts. Add a picture!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65760" y="3255264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5760" y="3255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68680" y="320954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Describe Its 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68680" y="3465576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4, explain where your animal lives — the biome, climate, food, and dangers it faces.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65760" y="4151376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65760" y="415137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68680" y="410565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Current Adaptations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868680" y="4361688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5, list 3–5 adaptations your animal already has and explain HOW each one helps it survive.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754880" y="1463040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754880" y="146304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257800" y="14173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Choose a New Environment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257800" y="1673352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6, pick a very different biome OR describe how your animal's current biome has been changed by humans.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754880" y="2359152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754880" y="235915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257800" y="231343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Future Adaptations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257800" y="2569464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7, predict 3–5 new adaptations your animal might evolve after millions of years. Be creative — use science!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754880" y="3255264"/>
            <a:ext cx="420624" cy="420624"/>
          </a:xfrm>
          <a:prstGeom prst="ellipse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754880" y="325526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57800" y="320954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332"/>
                </a:solidFill>
                <a:latin typeface="Calibri"/>
                <a:ea typeface="Calibri"/>
                <a:cs typeface="Calibri"/>
                <a:sym typeface="Calibri"/>
              </a:rPr>
              <a:t>Wrap It 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257800" y="3465576"/>
            <a:ext cx="3474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On Slide 8, summarize what you learned and share your opinion: Is your animal in danger? Can it adapt fast enough?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4"/>
          <p:cNvCxnSpPr/>
          <p:nvPr/>
        </p:nvCxnSpPr>
        <p:spPr>
          <a:xfrm>
            <a:off x="4572000" y="1280160"/>
            <a:ext cx="0" cy="3474720"/>
          </a:xfrm>
          <a:prstGeom prst="straightConnector1">
            <a:avLst/>
          </a:prstGeom>
          <a:noFill/>
          <a:ln cap="flat" cmpd="sng" w="19050">
            <a:solidFill>
              <a:srgbClr val="74C69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2" name="Google Shape;62;p4"/>
          <p:cNvSpPr/>
          <p:nvPr/>
        </p:nvSpPr>
        <p:spPr>
          <a:xfrm>
            <a:off x="365760" y="12344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PART 1: Your Animal Today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754880" y="12344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PART 2: Your Animal in the Future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1 OF 6 — PART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20040" y="4114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Meet My Animal!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320040" y="10515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Animal Name (Common &amp; Scientific):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20040" y="1298448"/>
            <a:ext cx="4846320" cy="32004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347472" y="12984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e.g., Snow Leopard (Panthera uncia)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20040" y="17373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Animal Group (mammal, reptile, bird, fish, insect, etc.):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320040" y="1984248"/>
            <a:ext cx="4846320" cy="32004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347472" y="19842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e.g., Mammal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20040" y="24231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Size &amp; Weight: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20040" y="2670048"/>
            <a:ext cx="4846320" cy="32004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347472" y="26700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e.g., 4–5 ft long; 60–120 lbs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20040" y="31089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What does it eat? (herbivore, omnivore, carnivore):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20040" y="3355848"/>
            <a:ext cx="4846320" cy="32004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347472" y="33558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e.g., Carnivore — eats wild sheep, deer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20040" y="3794760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3 Cool Facts About This Animal: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20040" y="4041648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___________________________________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0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___________________________________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0" i="0" lang="en-US" sz="10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___________________________________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40680" y="1051560"/>
            <a:ext cx="3383280" cy="2834640"/>
          </a:xfrm>
          <a:prstGeom prst="rect">
            <a:avLst/>
          </a:prstGeom>
          <a:solidFill>
            <a:srgbClr val="D8F3DC"/>
          </a:solidFill>
          <a:ln cap="flat" cmpd="sng" w="254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440680" y="1051560"/>
            <a:ext cx="33832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📷  Add a photo or drawing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of your animal here!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916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0916C"/>
                </a:solidFill>
                <a:latin typeface="Calibri"/>
                <a:ea typeface="Calibri"/>
                <a:cs typeface="Calibri"/>
                <a:sym typeface="Calibri"/>
              </a:rPr>
              <a:t>(Insert &gt; Image)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440680" y="3931920"/>
            <a:ext cx="3383280" cy="256032"/>
          </a:xfrm>
          <a:prstGeom prst="rect">
            <a:avLst/>
          </a:prstGeom>
          <a:solidFill>
            <a:srgbClr val="74C69D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5468112" y="393192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caption / credit: _______________________________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💡 TIP: Use a search engine like National Geographic Kids, iNaturalist, or Wikipedia to research your animal!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2 OF 6 — PART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20040" y="411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Its Environment (Habitat)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274320" y="105156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274320" y="105156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347472" y="106070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🌍  Biome / Ecosystem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47472" y="141732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365760" y="143560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Alpine / Grassland / Ocean...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200400" y="105156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200400" y="105156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"/>
          <p:cNvSpPr/>
          <p:nvPr/>
        </p:nvSpPr>
        <p:spPr>
          <a:xfrm>
            <a:off x="3273552" y="106070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🌡️  Climate &amp; Temperature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3273552" y="141732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3291840" y="143560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Cold, dry winters; short cool summers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126480" y="105156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126480" y="105156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6199632" y="106070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📍  Location on Earth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199632" y="141732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217920" y="143560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Central Asia — China, Nepal, India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74320" y="283464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274320" y="283464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347472" y="284378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🌿  Plants &amp; Other Animals Nearby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347472" y="320040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365760" y="321868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Juniper shrubs, wolves, mountain goats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200400" y="283464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200400" y="283464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3273552" y="284378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🍖  What It Eats / Its Food Source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3273552" y="320040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3291840" y="321868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Hunts blue sheep and Himalayan tahr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126480" y="2834640"/>
            <a:ext cx="2834640" cy="1600200"/>
          </a:xfrm>
          <a:prstGeom prst="rect">
            <a:avLst/>
          </a:prstGeom>
          <a:solidFill>
            <a:srgbClr val="D8F3DC"/>
          </a:solidFill>
          <a:ln cap="flat" cmpd="sng" w="190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126480" y="2834640"/>
            <a:ext cx="2834640" cy="292608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199632" y="284378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 Dangers &amp; Predators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199632" y="3200400"/>
            <a:ext cx="269748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6217920" y="3218688"/>
            <a:ext cx="26517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Humans (poaching, habitat loss)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💡 TIP: What makes this biome unique? How does the weather, food, and danger shape animal life there?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3 OF 6 — PART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20040" y="411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Its Adaptations (Right Now!)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274320" y="1024128"/>
            <a:ext cx="2743200" cy="3657600"/>
          </a:xfrm>
          <a:prstGeom prst="rect">
            <a:avLst/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47472" y="109728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200"/>
              <a:buFont typeface="Georgia"/>
              <a:buNone/>
            </a:pPr>
            <a:r>
              <a:rPr b="1" i="0" lang="en-US" sz="12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What is an adaptation?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47472" y="1572768"/>
            <a:ext cx="260604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An adaptation is a trait (body part, behavior, or ability) that helps an animal survive in its environment. Adaptations develop over thousands of generations through natural selection.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Types of adaptations: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🦴 Structural — body parts (thick fur, sharp claws, long beak)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⚡ Behavioral — what it does (migrates, plays dead, hunts at night)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⚗️ Physiological — body chemistry (stores fat, produces venom, resists cold)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200400" y="1024128"/>
            <a:ext cx="1463040" cy="34747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3236976" y="1024128"/>
            <a:ext cx="138988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Adaptation Name &amp; Type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709160" y="1024128"/>
            <a:ext cx="1737360" cy="34747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745736" y="1024128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does it look like / do?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492240" y="1024128"/>
            <a:ext cx="2468880" cy="34747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528816" y="1024128"/>
            <a:ext cx="23957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does it help the animal survive?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3200400" y="1371600"/>
            <a:ext cx="146304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4709160" y="1371600"/>
            <a:ext cx="173736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492240" y="1371600"/>
            <a:ext cx="246888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273552" y="1408176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456432" y="1408176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4764024" y="1408176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547104" y="1408176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3200400" y="2029968"/>
            <a:ext cx="146304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709160" y="2029968"/>
            <a:ext cx="173736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492240" y="2029968"/>
            <a:ext cx="246888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273552" y="2066544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456432" y="2066544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764024" y="2066544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6547104" y="2066544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200400" y="2688336"/>
            <a:ext cx="146304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4709160" y="2688336"/>
            <a:ext cx="173736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6492240" y="2688336"/>
            <a:ext cx="246888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3273552" y="2724912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3456432" y="2724912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764024" y="2724912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547104" y="2724912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200400" y="3346704"/>
            <a:ext cx="146304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709160" y="3346704"/>
            <a:ext cx="173736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6492240" y="3346704"/>
            <a:ext cx="2468880" cy="621792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273552" y="3383280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456432" y="3383280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764024" y="33832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547104" y="33832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200400" y="4005072"/>
            <a:ext cx="146304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4709160" y="4005072"/>
            <a:ext cx="173736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6492240" y="4005072"/>
            <a:ext cx="2468880" cy="621792"/>
          </a:xfrm>
          <a:prstGeom prst="rect">
            <a:avLst/>
          </a:prstGeom>
          <a:solidFill>
            <a:srgbClr val="D8F3DC"/>
          </a:solidFill>
          <a:ln cap="flat" cmpd="sng" w="101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3273552" y="4041648"/>
            <a:ext cx="228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456432" y="4041648"/>
            <a:ext cx="11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Thick, spotted fur (structural)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764024" y="4041648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547104" y="4041648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Write here...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8F3DC"/>
          </a:solidFill>
          <a:ln cap="flat" cmpd="sng" w="12700">
            <a:solidFill>
              <a:srgbClr val="D8F3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6A4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💡 TIP: Try to include at least one structural, one behavioral, and one physiological adaptation!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C25B3A"/>
          </a:solidFill>
          <a:ln cap="flat" cmpd="sng" w="12700">
            <a:solidFill>
              <a:srgbClr val="C25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4 OF 6 — PART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20040" y="41148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New (or Changing) Environment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74320" y="1024128"/>
            <a:ext cx="4023360" cy="3703320"/>
          </a:xfrm>
          <a:prstGeom prst="rect">
            <a:avLst/>
          </a:prstGeom>
          <a:solidFill>
            <a:srgbClr val="FFF8F0"/>
          </a:solidFill>
          <a:ln cap="flat" cmpd="sng" w="190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274320" y="1024128"/>
            <a:ext cx="4023360" cy="38404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347472" y="102412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A — Totally Different Biome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365760" y="150876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new biome did you choose?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65760" y="175564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11480" y="175564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Deep ocean, Desert, Tropical rainforest...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65760" y="228600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How is the climate different?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65760" y="253288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11480" y="253288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Hot and wet instead of cold and dry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65760" y="306324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new dangers / predators are there?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65760" y="331012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411480" y="331012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Dehydration, heat, new predators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365760" y="384048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new food sources exist?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65760" y="408736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C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11480" y="408736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Insects, fruit, fish...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846320" y="1024128"/>
            <a:ext cx="4023360" cy="3703320"/>
          </a:xfrm>
          <a:prstGeom prst="rect">
            <a:avLst/>
          </a:prstGeom>
          <a:solidFill>
            <a:srgbClr val="F0F8FF"/>
          </a:solidFill>
          <a:ln cap="flat" cmpd="sng" w="1905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4846320" y="1024128"/>
            <a:ext cx="4023360" cy="384048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4919472" y="102412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B — Biome Changed by Humans 🏭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937760" y="150876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human activity is changing the biome?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937760" y="175564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4983480" y="175564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Deforestation, pollution, climate change, urbanization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937760" y="228600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How has the climate / temperature changed?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937760" y="253288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983480" y="253288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Warmer winters, less snow, more wildfires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937760" y="306324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resources have been lost or changed?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937760" y="331012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983480" y="331012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Prey is disappearing, forests cut down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937760" y="3840480"/>
            <a:ext cx="3794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What new dangers are there?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937760" y="4087368"/>
            <a:ext cx="379476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80B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983480" y="4087368"/>
            <a:ext cx="3703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e.g., Roads, light pollution, toxins in water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297680" y="2468880"/>
            <a:ext cx="548640" cy="548640"/>
          </a:xfrm>
          <a:prstGeom prst="ellipse">
            <a:avLst/>
          </a:prstGeom>
          <a:solidFill>
            <a:srgbClr val="264653"/>
          </a:solidFill>
          <a:ln cap="flat" cmpd="sng" w="12700">
            <a:solidFill>
              <a:srgbClr val="2646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4297680" y="24688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FF3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🌍  Circle which option you chose: Option A  |  Option B    Then fill in the matching box!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C25B3A"/>
          </a:solidFill>
          <a:ln cap="flat" cmpd="sng" w="12700">
            <a:solidFill>
              <a:srgbClr val="C25B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5 OF 6 — PART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20040" y="39319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Georg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Future Adaptations (Millions of Years Later...)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274320" y="1005840"/>
            <a:ext cx="8595360" cy="502920"/>
          </a:xfrm>
          <a:prstGeom prst="rect">
            <a:avLst/>
          </a:prstGeom>
          <a:solidFill>
            <a:srgbClr val="FFF8E1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365760" y="1024128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🔬  Use what you know about the NEW environment to predict how your animal might EVOLVE over millions of years. Think: what problems must it solve to survive?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274320" y="1600200"/>
            <a:ext cx="42519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347472" y="167335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347472" y="1673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777240" y="1645920"/>
            <a:ext cx="14881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77240" y="1856232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804672" y="18562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777240" y="2084832"/>
            <a:ext cx="19133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777240" y="2258568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804672" y="225856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754880" y="1600200"/>
            <a:ext cx="42519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4828032" y="167335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"/>
          <p:cNvSpPr/>
          <p:nvPr/>
        </p:nvSpPr>
        <p:spPr>
          <a:xfrm>
            <a:off x="4828032" y="1673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5257800" y="1645920"/>
            <a:ext cx="14881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257800" y="1856232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5285232" y="18562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257800" y="2084832"/>
            <a:ext cx="19133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257800" y="2258568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5285232" y="225856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274320" y="2651760"/>
            <a:ext cx="42519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347472" y="272491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347472" y="27249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777240" y="2697480"/>
            <a:ext cx="14881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777240" y="2907792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"/>
          <p:cNvSpPr/>
          <p:nvPr/>
        </p:nvSpPr>
        <p:spPr>
          <a:xfrm>
            <a:off x="804672" y="290779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777240" y="3136392"/>
            <a:ext cx="19133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777240" y="3310128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804672" y="331012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4754880" y="2651760"/>
            <a:ext cx="42519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4828032" y="272491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4828032" y="27249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5257800" y="2697480"/>
            <a:ext cx="148818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5257800" y="2907792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5285232" y="290779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257800" y="3136392"/>
            <a:ext cx="191338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257800" y="3310128"/>
            <a:ext cx="36576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285232" y="331012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274320" y="3703320"/>
            <a:ext cx="8595360" cy="914400"/>
          </a:xfrm>
          <a:prstGeom prst="rect">
            <a:avLst/>
          </a:prstGeom>
          <a:solidFill>
            <a:srgbClr val="FEFAE0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347472" y="3776472"/>
            <a:ext cx="365760" cy="365760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347472" y="37764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777240" y="3749040"/>
            <a:ext cx="30083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Adaptation Name &amp; Type: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777240" y="3959352"/>
            <a:ext cx="80010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804672" y="3959352"/>
            <a:ext cx="7936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Write adaptation name here...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777240" y="4187952"/>
            <a:ext cx="386791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Why? (What problem does it solve?):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777240" y="4361688"/>
            <a:ext cx="8001000" cy="2011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804672" y="4361688"/>
            <a:ext cx="79369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Explain how it helps the animal survive in the new environment...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FF3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465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64653"/>
                </a:solidFill>
                <a:latin typeface="Calibri"/>
                <a:ea typeface="Calibri"/>
                <a:cs typeface="Calibri"/>
                <a:sym typeface="Calibri"/>
              </a:rPr>
              <a:t>💡 TIP: Think about camouflage, movement, diet, water storage, temperature control, and protection from predators!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D6A4F"/>
          </a:solidFill>
          <a:ln cap="flat" cmpd="sng" w="12700">
            <a:solidFill>
              <a:srgbClr val="2D6A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320040" y="164592"/>
            <a:ext cx="2011680" cy="292608"/>
          </a:xfrm>
          <a:prstGeom prst="roundRect">
            <a:avLst>
              <a:gd fmla="val 15625" name="adj"/>
            </a:avLst>
          </a:prstGeom>
          <a:solidFill>
            <a:srgbClr val="1B4332"/>
          </a:solidFill>
          <a:ln cap="flat" cmpd="sng" w="12700">
            <a:solidFill>
              <a:srgbClr val="1B4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320040" y="16459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6 OF 6 — CONCLUSION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320040" y="393192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Did You Learn? 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274320" y="1024128"/>
            <a:ext cx="5669280" cy="914400"/>
          </a:xfrm>
          <a:prstGeom prst="rect">
            <a:avLst/>
          </a:prstGeom>
          <a:solidFill>
            <a:srgbClr val="FFFFFF">
              <a:alpha val="85098"/>
            </a:srgbClr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365760" y="1042416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In 2–3 sentences, summarize your project: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65760" y="1261872"/>
            <a:ext cx="53949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Write your summary here. Example: My animal is the snow leopard, which lives in the cold mountains of Asia. It has adaptations like thick fur and big paws that help it survive. If it moved to a tropical rainforest...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274320" y="2048256"/>
            <a:ext cx="292608" cy="292608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274320" y="20482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40080" y="2029968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Which adaptation you researched surprised you the most, and why?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40080" y="2304288"/>
            <a:ext cx="5212080" cy="274320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685800" y="230428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Your answer...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274320" y="2706624"/>
            <a:ext cx="292608" cy="292608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274320" y="27066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640080" y="2688336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Do you think your animal could REALLY survive in its new environment, even with new adaptations? Why or why not?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640080" y="2962656"/>
            <a:ext cx="5212080" cy="274320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685800" y="296265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Your answer...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274320" y="3364992"/>
            <a:ext cx="292608" cy="292608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274320" y="336499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640080" y="3346704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How do human activities make it harder for animals to adapt? Give one example.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640080" y="3621024"/>
            <a:ext cx="5212080" cy="274320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685800" y="3621024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Your answer...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274320" y="4023360"/>
            <a:ext cx="292608" cy="292608"/>
          </a:xfrm>
          <a:prstGeom prst="ellipse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274320" y="402336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640080" y="4005072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If you could be any animal, which one would you be and why? What adaptations would you find most useful?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640080" y="4279392"/>
            <a:ext cx="5212080" cy="274320"/>
          </a:xfrm>
          <a:prstGeom prst="rect">
            <a:avLst/>
          </a:prstGeom>
          <a:solidFill>
            <a:srgbClr val="FFFFFF">
              <a:alpha val="14901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685800" y="427939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Your answer...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274320" y="4663440"/>
            <a:ext cx="5669280" cy="347472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015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365760" y="4663440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📚  My Sources: 1. _____________________ 2. _____________________ 3. _____________________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6217920" y="1024128"/>
            <a:ext cx="2651760" cy="3977640"/>
          </a:xfrm>
          <a:prstGeom prst="rect">
            <a:avLst/>
          </a:prstGeom>
          <a:solidFill>
            <a:srgbClr val="2D6A4F"/>
          </a:solidFill>
          <a:ln cap="flat" cmpd="sng" w="12700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6309360" y="107899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E9C46A"/>
                </a:solidFill>
                <a:latin typeface="Georgia"/>
                <a:ea typeface="Georgia"/>
                <a:cs typeface="Georgia"/>
                <a:sym typeface="Georgia"/>
              </a:rPr>
              <a:t>🌟  Scoring Rubric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6236208" y="1481328"/>
            <a:ext cx="2615184" cy="402336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6309360" y="153619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Animal description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8321040" y="153619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6236208" y="1947672"/>
            <a:ext cx="2615184" cy="402336"/>
          </a:xfrm>
          <a:prstGeom prst="rect">
            <a:avLst/>
          </a:prstGeom>
          <a:solidFill>
            <a:srgbClr val="D8F3DC">
              <a:alpha val="14901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6309360" y="200253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Environment details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8321040" y="200253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6236208" y="2414016"/>
            <a:ext cx="2615184" cy="402336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6309360" y="24688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Current adaptations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8321040" y="2468880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236208" y="2880360"/>
            <a:ext cx="2615184" cy="402336"/>
          </a:xfrm>
          <a:prstGeom prst="rect">
            <a:avLst/>
          </a:prstGeom>
          <a:solidFill>
            <a:srgbClr val="D8F3DC">
              <a:alpha val="14901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6309360" y="2935224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New environment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8321040" y="2935224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6236208" y="3346704"/>
            <a:ext cx="2615184" cy="402336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6309360" y="3401568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Future adaptations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8321040" y="340156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6236208" y="3813048"/>
            <a:ext cx="2615184" cy="402336"/>
          </a:xfrm>
          <a:prstGeom prst="rect">
            <a:avLst/>
          </a:prstGeom>
          <a:solidFill>
            <a:srgbClr val="D8F3DC">
              <a:alpha val="14901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6309360" y="3867912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Reflection &amp; writing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8321040" y="386791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6236208" y="4279392"/>
            <a:ext cx="2615184" cy="402336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9525">
            <a:solidFill>
              <a:srgbClr val="74C6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6309360" y="433425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F3DC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8F3DC"/>
                </a:solidFill>
                <a:latin typeface="Calibri"/>
                <a:ea typeface="Calibri"/>
                <a:cs typeface="Calibri"/>
                <a:sym typeface="Calibri"/>
              </a:rPr>
              <a:t>Creativity &amp; effort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8321040" y="4334256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6236208" y="4727448"/>
            <a:ext cx="2615184" cy="256032"/>
          </a:xfrm>
          <a:prstGeom prst="rect">
            <a:avLst/>
          </a:prstGeom>
          <a:solidFill>
            <a:srgbClr val="40916C"/>
          </a:solidFill>
          <a:ln cap="flat" cmpd="sng" w="12700">
            <a:solidFill>
              <a:srgbClr val="4091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6309360" y="4736592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8229600" y="4736592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C4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9C46A"/>
                </a:solidFill>
                <a:latin typeface="Calibri"/>
                <a:ea typeface="Calibri"/>
                <a:cs typeface="Calibri"/>
                <a:sym typeface="Calibri"/>
              </a:rPr>
              <a:t>/100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